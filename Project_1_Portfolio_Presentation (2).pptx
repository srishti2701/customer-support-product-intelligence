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1365" cy="6858000"/>
  <p:notesSz cx="6858000" cy="12191365"/>
  <p:embeddedFontLst>
    <p:embeddedFont>
      <p:font typeface="Assistant" pitchFamily="34" charset="0"/>
      <p:regular r:id="rId12"/>
    </p:embeddedFont>
    <p:embeddedFont>
      <p:font typeface="Assistant" pitchFamily="34" charset="-122"/>
      <p:regular r:id="rId13"/>
    </p:embeddedFont>
    <p:embeddedFont>
      <p:font typeface="Assistant" pitchFamily="34" charset="-120"/>
      <p:regular r:id="rId14"/>
    </p:embeddedFont>
    <p:embeddedFont>
      <p:font typeface="Archivo Narrow Bold" pitchFamily="34" charset="0"/>
      <p:bold r:id="rId15"/>
    </p:embeddedFont>
    <p:embeddedFont>
      <p:font typeface="Archivo Narrow Bold" pitchFamily="34" charset="-122"/>
      <p:bold r:id="rId16"/>
    </p:embeddedFont>
    <p:embeddedFont>
      <p:font typeface="Archivo Narrow Bold" pitchFamily="34" charset="-120"/>
      <p:bold r:id="rId17"/>
    </p:embeddedFont>
    <p:embeddedFont>
      <p:font typeface="Assistant SemiBold" pitchFamily="34" charset="0"/>
      <p:bold r:id="rId18"/>
    </p:embeddedFont>
    <p:embeddedFont>
      <p:font typeface="Assistant SemiBold" pitchFamily="34" charset="-122"/>
      <p:bold r:id="rId19"/>
    </p:embeddedFont>
    <p:embeddedFont>
      <p:font typeface="Assistant SemiBold" pitchFamily="34" charset="-120"/>
      <p:bold r:id="rId20"/>
    </p:embeddedFont>
    <p:embeddedFont>
      <p:font typeface="Assistant Bold" pitchFamily="34" charset="0"/>
      <p:bold r:id="rId21"/>
    </p:embeddedFont>
    <p:embeddedFont>
      <p:font typeface="Assistant Bold" pitchFamily="34" charset="-122"/>
      <p:bold r:id="rId22"/>
    </p:embeddedFont>
    <p:embeddedFont>
      <p:font typeface="Assistant Bold" pitchFamily="34" charset="-120"/>
      <p:bold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16.fntdata"/><Relationship Id="rId26" Type="http://schemas.openxmlformats.org/officeDocument/2006/relationships/font" Target="fonts/font15.fntdata"/><Relationship Id="rId25" Type="http://schemas.openxmlformats.org/officeDocument/2006/relationships/font" Target="fonts/font14.fntdata"/><Relationship Id="rId24" Type="http://schemas.openxmlformats.org/officeDocument/2006/relationships/font" Target="fonts/font13.fntdata"/><Relationship Id="rId23" Type="http://schemas.openxmlformats.org/officeDocument/2006/relationships/font" Target="fonts/font12.fntdata"/><Relationship Id="rId22" Type="http://schemas.openxmlformats.org/officeDocument/2006/relationships/font" Target="fonts/font11.fntdata"/><Relationship Id="rId21" Type="http://schemas.openxmlformats.org/officeDocument/2006/relationships/font" Target="fonts/font10.fntdata"/><Relationship Id="rId20" Type="http://schemas.openxmlformats.org/officeDocument/2006/relationships/font" Target="fonts/font9.fntdata"/><Relationship Id="rId2" Type="http://schemas.openxmlformats.org/officeDocument/2006/relationships/theme" Target="theme/theme1.xml"/><Relationship Id="rId19" Type="http://schemas.openxmlformats.org/officeDocument/2006/relationships/font" Target="fonts/font8.fntdata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451" cy="685800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" name="Text 1"/>
          <p:cNvSpPr/>
          <p:nvPr/>
        </p:nvSpPr>
        <p:spPr>
          <a:xfrm>
            <a:off x="380990" y="381953"/>
            <a:ext cx="5562461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01 / PORTFOLIO PROJECT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0990" y="2293044"/>
            <a:ext cx="5181470" cy="1447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AI-Powered</a:t>
            </a:r>
            <a:endParaRPr lang="en-US" sz="38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Customer Support</a:t>
            </a:r>
            <a:endParaRPr lang="en-US" sz="38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&amp; Product Intelligence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80990" y="3923090"/>
            <a:ext cx="5181470" cy="7465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An end-to-end Business Analytics portfolio project showing how customer, order, and feedback data can become actionable recommendations.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990" y="4893766"/>
            <a:ext cx="2793930" cy="1583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3835" y="356553"/>
            <a:ext cx="5587860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F766E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THE BUSINESS QUESTION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603835" y="706378"/>
            <a:ext cx="5232269" cy="7314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3200" b="1" dirty="0">
                <a:solidFill>
                  <a:srgbClr val="693652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Where does support data become a better decision?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603835" y="1648321"/>
            <a:ext cx="781923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693652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03835" y="1897261"/>
            <a:ext cx="2463738" cy="19050"/>
          </a:xfrm>
          <a:prstGeom prst="rect">
            <a:avLst/>
          </a:prstGeom>
          <a:solidFill>
            <a:srgbClr val="693652"/>
          </a:solidFill>
        </p:spPr>
      </p:sp>
      <p:sp>
        <p:nvSpPr>
          <p:cNvPr id="11" name="Text 8"/>
          <p:cNvSpPr/>
          <p:nvPr/>
        </p:nvSpPr>
        <p:spPr>
          <a:xfrm>
            <a:off x="6603835" y="2051883"/>
            <a:ext cx="2463738" cy="1942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1700" b="1" dirty="0">
                <a:solidFill>
                  <a:srgbClr val="693652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Customer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603835" y="2416651"/>
            <a:ext cx="2463738" cy="497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Understand risk, experience, and recurring issues.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372366" y="1648321"/>
            <a:ext cx="789563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693652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372366" y="1897261"/>
            <a:ext cx="2463738" cy="19050"/>
          </a:xfrm>
          <a:prstGeom prst="rect">
            <a:avLst/>
          </a:prstGeom>
          <a:solidFill>
            <a:srgbClr val="693652"/>
          </a:solidFill>
        </p:spPr>
      </p:sp>
      <p:sp>
        <p:nvSpPr>
          <p:cNvPr id="15" name="Text 12"/>
          <p:cNvSpPr/>
          <p:nvPr/>
        </p:nvSpPr>
        <p:spPr>
          <a:xfrm>
            <a:off x="9372366" y="2051883"/>
            <a:ext cx="2463738" cy="1942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1700" b="1" dirty="0">
                <a:solidFill>
                  <a:srgbClr val="693652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Order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372366" y="2416651"/>
            <a:ext cx="2463738" cy="497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Read delivery, cancellation, and revenue signals.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03835" y="3214688"/>
            <a:ext cx="789563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693652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603835" y="3463627"/>
            <a:ext cx="2463738" cy="19050"/>
          </a:xfrm>
          <a:prstGeom prst="rect">
            <a:avLst/>
          </a:prstGeom>
          <a:solidFill>
            <a:srgbClr val="693652"/>
          </a:solidFill>
        </p:spPr>
      </p:sp>
      <p:sp>
        <p:nvSpPr>
          <p:cNvPr id="19" name="Text 16"/>
          <p:cNvSpPr/>
          <p:nvPr/>
        </p:nvSpPr>
        <p:spPr>
          <a:xfrm>
            <a:off x="6603835" y="3618250"/>
            <a:ext cx="2463738" cy="1942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1700" b="1" dirty="0">
                <a:solidFill>
                  <a:srgbClr val="693652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Feedback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603835" y="3983018"/>
            <a:ext cx="2463738" cy="497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Connect themes and sentiment to business context.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372366" y="3214688"/>
            <a:ext cx="789563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693652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372366" y="3463627"/>
            <a:ext cx="2463738" cy="19050"/>
          </a:xfrm>
          <a:prstGeom prst="rect">
            <a:avLst/>
          </a:prstGeom>
          <a:solidFill>
            <a:srgbClr val="693652"/>
          </a:solidFill>
        </p:spPr>
      </p:sp>
      <p:sp>
        <p:nvSpPr>
          <p:cNvPr id="23" name="Text 20"/>
          <p:cNvSpPr/>
          <p:nvPr/>
        </p:nvSpPr>
        <p:spPr>
          <a:xfrm>
            <a:off x="9372366" y="3618250"/>
            <a:ext cx="2463738" cy="1942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1700" b="1" dirty="0">
                <a:solidFill>
                  <a:srgbClr val="693652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Action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372366" y="3983018"/>
            <a:ext cx="2463738" cy="497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Turn analysis into focused recommendations.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603835" y="6009164"/>
            <a:ext cx="5232269" cy="497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01 / 05   ·   Customer Support &amp; Product Intelligence | Business Analytics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F766E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02 / METHOD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67998"/>
            <a:ext cx="10972526" cy="411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3600" b="1" dirty="0">
                <a:solidFill>
                  <a:srgbClr val="693652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From Raw Data to Business Insights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620441"/>
            <a:ext cx="5333867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2000" b="1" dirty="0">
                <a:solidFill>
                  <a:srgbClr val="693652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Dataset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009061"/>
            <a:ext cx="5333867" cy="7465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53B79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300 customer records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53B79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1,118 orders</a:t>
            </a: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imported into MySQL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53B79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318 feedback records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48244" y="1620441"/>
            <a:ext cx="5333867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2000" b="1" dirty="0">
                <a:solidFill>
                  <a:srgbClr val="693652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Analysis workflow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48244" y="2004616"/>
            <a:ext cx="5333867" cy="18041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53B79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Excel</a:t>
            </a: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— profiling, cleaning, formulas, PivotTables, and inactivity-based churn classification</a:t>
            </a:r>
            <a:endParaRPr lang="en-US" sz="1400" dirty="0"/>
          </a:p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53B79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MySQL</a:t>
            </a: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— filtering, aggregation, joins, CASE statements, and date functions across orders, cancellations, revenue, and feedback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53B79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Power BI</a:t>
            </a: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— KPI cards, slicers, monthly trends, category revenue, customer status, feedback themes, and sentiment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585" y="4050109"/>
            <a:ext cx="10972526" cy="942181"/>
          </a:xfrm>
          <a:prstGeom prst="roundRect">
            <a:avLst>
              <a:gd name="adj" fmla="val 7926"/>
            </a:avLst>
          </a:prstGeom>
          <a:solidFill>
            <a:srgbClr val="FCF2B5"/>
          </a:solidFill>
        </p:spPr>
      </p:sp>
      <p:sp>
        <p:nvSpPr>
          <p:cNvPr id="9" name="Text 7"/>
          <p:cNvSpPr/>
          <p:nvPr/>
        </p:nvSpPr>
        <p:spPr>
          <a:xfrm>
            <a:off x="787380" y="4276804"/>
            <a:ext cx="10616934" cy="497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Data-quality note:</a:t>
            </a:r>
            <a:r>
              <a:rPr lang="en-US" sz="1400" dirty="0">
                <a:solidFill>
                  <a:srgbClr val="00000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the source workbook was expected to contain 1,119 orders, but 1,118 were imported into MySQL; the discrepancy remains unresolved.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6035080"/>
            <a:ext cx="11582110" cy="213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2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02 / 05 · Customer Support &amp; Product Intelligence | Business Analytics Project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91105"/>
            <a:ext cx="7467413" cy="1602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kern="100" spc="57" dirty="0">
                <a:solidFill>
                  <a:srgbClr val="0F766E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03 / BUSINESS OVERVIEW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9585" y="451328"/>
            <a:ext cx="7467413" cy="98980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3600" b="1" dirty="0">
                <a:solidFill>
                  <a:srgbClr val="693652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ORDER PERFORMANCE &amp; BUSINESS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07116" y="733090"/>
            <a:ext cx="3200419" cy="4272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1000"/>
              </a:lnSpc>
              <a:buNone/>
            </a:pPr>
            <a:r>
              <a:rPr lang="en-US" sz="125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Verified operational signals, with open fields marked for completion.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0" y="6704942"/>
            <a:ext cx="11582110" cy="1602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11000"/>
              </a:lnSpc>
              <a:buNone/>
            </a:pPr>
            <a:r>
              <a:rPr lang="en-US" sz="95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03 / 05   ·   Customer Support &amp; Product Intelligence | Business Analytics Project</a:t>
            </a:r>
            <a:endParaRPr lang="en-US" sz="950" dirty="0"/>
          </a:p>
        </p:txBody>
      </p:sp>
      <p:pic>
        <p:nvPicPr>
          <p:cNvPr id="19" name="Picture 18" descr="business_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5995" y="1423670"/>
            <a:ext cx="7533640" cy="511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F766E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04 / CUSTOMER INTELLIGENCE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67998"/>
            <a:ext cx="10972526" cy="411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3600" b="1" dirty="0">
                <a:solidFill>
                  <a:srgbClr val="693652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Understanding Customer Risk &amp; Customer Experience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86786"/>
            <a:ext cx="11582110" cy="2488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Risk signals are prompts for investigation, not final diagnoses.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073434"/>
            <a:ext cx="6400640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69365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CUSTOMER &amp; FEEDBACK SIGNALS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09600" y="2448560"/>
          <a:ext cx="5061585" cy="2792095"/>
        </p:xfrm>
        <a:graphic>
          <a:graphicData uri="http://schemas.openxmlformats.org/drawingml/2006/table">
            <a:tbl>
              <a:tblPr/>
              <a:tblGrid>
                <a:gridCol w="1366520"/>
                <a:gridCol w="3695065"/>
              </a:tblGrid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93652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View</a:t>
                      </a:r>
                      <a:endParaRPr lang="en-US" sz="1400" dirty="0">
                        <a:latin typeface="Assistant" pitchFamily="34" charset="0"/>
                        <a:ea typeface="Assistant" pitchFamily="34" charset="0"/>
                        <a:cs typeface="Assistant" pitchFamily="34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4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93652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Signals / data to insert</a:t>
                      </a:r>
                      <a:endParaRPr lang="en-US" sz="1400" dirty="0">
                        <a:latin typeface="Assistant" pitchFamily="34" charset="0"/>
                        <a:ea typeface="Assistant" pitchFamily="34" charset="0"/>
                        <a:cs typeface="Assistant" pitchFamily="34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4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53B79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Customer status</a:t>
                      </a:r>
                      <a:endParaRPr lang="en-US" sz="1400" dirty="0">
                        <a:latin typeface="Assistant" pitchFamily="34" charset="0"/>
                        <a:ea typeface="Assistant" pitchFamily="34" charset="0"/>
                        <a:cs typeface="Assistant" pitchFamily="34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4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4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53B79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Potentially churned (90-day inactivity rule): 112; No recorded orders: 19; Other statuses: Data to insert</a:t>
                      </a:r>
                      <a:endParaRPr lang="en-US" sz="1400" dirty="0">
                        <a:latin typeface="Assistant" pitchFamily="34" charset="0"/>
                        <a:ea typeface="Assistant" pitchFamily="34" charset="0"/>
                        <a:cs typeface="Assistant" pitchFamily="34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4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4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53B79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Feedback issue</a:t>
                      </a:r>
                      <a:endParaRPr lang="en-US" sz="1400" dirty="0">
                        <a:latin typeface="Assistant" pitchFamily="34" charset="0"/>
                        <a:ea typeface="Assistant" pitchFamily="34" charset="0"/>
                        <a:cs typeface="Assistant" pitchFamily="34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4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4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53B79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Payment or Refund: 77; Other issue categories: Data to insert</a:t>
                      </a:r>
                      <a:endParaRPr lang="en-US" sz="1400" dirty="0">
                        <a:latin typeface="Assistant" pitchFamily="34" charset="0"/>
                        <a:ea typeface="Assistant" pitchFamily="34" charset="0"/>
                        <a:cs typeface="Assistant" pitchFamily="34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4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4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53B79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Sentiment</a:t>
                      </a:r>
                      <a:endParaRPr lang="en-US" sz="1400" dirty="0">
                        <a:latin typeface="Assistant" pitchFamily="34" charset="0"/>
                        <a:ea typeface="Assistant" pitchFamily="34" charset="0"/>
                        <a:cs typeface="Assistant" pitchFamily="34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4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4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53B79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Negative: 194; lowercase negative: 1</a:t>
                      </a:r>
                      <a:endParaRPr lang="en-US" sz="1400" dirty="0">
                        <a:latin typeface="Assistant" pitchFamily="34" charset="0"/>
                        <a:ea typeface="Assistant" pitchFamily="34" charset="0"/>
                        <a:cs typeface="Assistant" pitchFamily="34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4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24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53B79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Feedback channel</a:t>
                      </a:r>
                      <a:endParaRPr lang="en-US" sz="1400" dirty="0">
                        <a:latin typeface="Assistant" pitchFamily="34" charset="0"/>
                        <a:ea typeface="Assistant" pitchFamily="34" charset="0"/>
                        <a:cs typeface="Assistant" pitchFamily="34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4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53B79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Channel: Data to insert; Records: Data to insert</a:t>
                      </a:r>
                      <a:endParaRPr lang="en-US" sz="1400" dirty="0">
                        <a:latin typeface="Assistant" pitchFamily="34" charset="0"/>
                        <a:ea typeface="Assistant" pitchFamily="34" charset="0"/>
                        <a:cs typeface="Assistant" pitchFamily="34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24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5300682"/>
            <a:ext cx="6400640" cy="2488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Standardization is required before publishing final metrics.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0" y="6114931"/>
            <a:ext cx="11582110" cy="2488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04 / 05   ·   Customer Support &amp; Product Intelligence | Business Analytics Project</a:t>
            </a:r>
            <a:endParaRPr lang="en-US" sz="1400" dirty="0"/>
          </a:p>
        </p:txBody>
      </p:sp>
      <p:pic>
        <p:nvPicPr>
          <p:cNvPr id="16" name="Picture 15" descr="customer_intellig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5170" y="2051685"/>
            <a:ext cx="6299835" cy="38468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5832"/>
            <a:ext cx="11582110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F766E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05 / RECOMMENDATIONS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09008"/>
            <a:ext cx="3911502" cy="7314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3200" b="1" dirty="0">
                <a:solidFill>
                  <a:srgbClr val="693652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Turning Analysis into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825780" y="1057255"/>
            <a:ext cx="6756330" cy="497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53B79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Conclusion:</a:t>
            </a: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Excel, MySQL, and Power BI can transform customer, order, and feedback data into actionable business recommendations.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063651"/>
            <a:ext cx="5333867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2000" b="1" dirty="0">
                <a:solidFill>
                  <a:srgbClr val="693652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Payment &amp; Refund Resolution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2452271"/>
            <a:ext cx="5333867" cy="497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Investigate payment failures, refund delays, and recurring complaints; track resolution time and repeat complaints.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48244" y="2063651"/>
            <a:ext cx="5333867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2000" b="1" dirty="0">
                <a:solidFill>
                  <a:srgbClr val="693652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Cancellation Reduction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48244" y="2452271"/>
            <a:ext cx="5333867" cy="497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Analyze cancellation reasons by city, category, and month; prioritize verified drivers rather than assuming a city causes cancellations.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585" y="3288407"/>
            <a:ext cx="5333867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2000" b="1" dirty="0">
                <a:solidFill>
                  <a:srgbClr val="693652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Customer Re-engagement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585" y="3677027"/>
            <a:ext cx="5333867" cy="7465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Test a targeted campaign for potentially churned customers and measure reactivation and repeat purchases against an appropriate comparison group.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48244" y="3288407"/>
            <a:ext cx="5333867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2000" b="1" dirty="0">
                <a:solidFill>
                  <a:srgbClr val="693652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Data Quality Improvement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48244" y="3677027"/>
            <a:ext cx="5333867" cy="497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Standardize city names, issue categories, and sentiment labels; reconcile the missing order record before publishing final metrics.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585" y="4660404"/>
            <a:ext cx="8000800" cy="1144687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14" name="Text 12"/>
          <p:cNvSpPr/>
          <p:nvPr/>
        </p:nvSpPr>
        <p:spPr>
          <a:xfrm>
            <a:off x="914377" y="4813756"/>
            <a:ext cx="7696007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377" y="5159454"/>
            <a:ext cx="7391215" cy="497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Synthetic dataset; inactivity-based churn proxy; recommendations not experimentally tested; financial impact not measured; order-count discrepancy unresolved.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15177" y="4660404"/>
            <a:ext cx="2666933" cy="1144687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17" name="Text 15"/>
          <p:cNvSpPr/>
          <p:nvPr/>
        </p:nvSpPr>
        <p:spPr>
          <a:xfrm>
            <a:off x="9219969" y="5042198"/>
            <a:ext cx="2057349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chivo Narrow Bold" pitchFamily="34" charset="0"/>
                <a:ea typeface="Archivo Narrow Bold" pitchFamily="34" charset="-122"/>
                <a:cs typeface="Archivo Narrow Bold" pitchFamily="34" charset="-120"/>
              </a:rPr>
              <a:t>Thank You | Questions?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0" y="6047343"/>
            <a:ext cx="11582110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050" dirty="0">
                <a:solidFill>
                  <a:srgbClr val="253B7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05 / 05    ·   Customer Support &amp; Product Intelligence | Business Analytics Project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3205</Words>
  <Application>WPS Presentation</Application>
  <PresentationFormat>On-screen Show (16:9)</PresentationFormat>
  <Paragraphs>128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4" baseType="lpstr">
      <vt:lpstr>Arial</vt:lpstr>
      <vt:lpstr>SimSun</vt:lpstr>
      <vt:lpstr>Wingdings</vt:lpstr>
      <vt:lpstr>Assistant</vt:lpstr>
      <vt:lpstr>Assistant</vt:lpstr>
      <vt:lpstr>Assistant</vt:lpstr>
      <vt:lpstr>Archivo Narrow Bold</vt:lpstr>
      <vt:lpstr>Archivo Narrow Bold</vt:lpstr>
      <vt:lpstr>Archivo Narrow Bold</vt:lpstr>
      <vt:lpstr>Assistant SemiBold</vt:lpstr>
      <vt:lpstr>Assistant SemiBold</vt:lpstr>
      <vt:lpstr>Assistant SemiBold</vt:lpstr>
      <vt:lpstr>Assistant Bold</vt:lpstr>
      <vt:lpstr>Assistant Bold</vt:lpstr>
      <vt:lpstr>Assistant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srish</cp:lastModifiedBy>
  <cp:revision>2</cp:revision>
  <dcterms:created xsi:type="dcterms:W3CDTF">2026-10-20T06:58:00Z</dcterms:created>
  <dcterms:modified xsi:type="dcterms:W3CDTF">2026-10-20T07:02:04Z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0AD00A18B2874675A560281793160DC9_12</vt:lpwstr>
  </property>
</Properties>
</file>